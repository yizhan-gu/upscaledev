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e4d018a8b4421" /><Relationship Type="http://schemas.openxmlformats.org/officeDocument/2006/relationships/extended-properties" Target="/docProps/app.xml" Id="R362b697ac4bf4797" /><Relationship Type="http://schemas.openxmlformats.org/officeDocument/2006/relationships/officeDocument" Target="/ppt/presentation.xml" Id="Rc1e3f3d3920744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ee2b40c3bd4ed0"/>
  </p:sldMasterIdLst>
  <p:notesMasterIdLst>
    <p:notesMasterId xmlns:r="http://schemas.openxmlformats.org/officeDocument/2006/relationships" r:id="R11a03d43dcc5418b"/>
  </p:notesMasterIdLst>
  <p:sldIdLst>
    <p:sldId xmlns:r="http://schemas.openxmlformats.org/officeDocument/2006/relationships" id="256" r:id="R0add6ae1c588453c"/>
    <p:sldId xmlns:r="http://schemas.openxmlformats.org/officeDocument/2006/relationships" id="257" r:id="R7b00cf436c764d47"/>
    <p:sldId xmlns:r="http://schemas.openxmlformats.org/officeDocument/2006/relationships" id="258" r:id="Ra6fc46a43d3c4c7a"/>
    <p:sldId xmlns:r="http://schemas.openxmlformats.org/officeDocument/2006/relationships" id="259" r:id="Rf616affc77514e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7eebbd61f4cc6" /><Relationship Type="http://schemas.openxmlformats.org/officeDocument/2006/relationships/slideMaster" Target="/ppt/slideMasters/slideMaster1.xml" Id="R34ee2b40c3bd4ed0" /><Relationship Type="http://schemas.openxmlformats.org/officeDocument/2006/relationships/notesMaster" Target="/ppt/notesMasters/notesMaster1.xml" Id="R11a03d43dcc5418b" /><Relationship Type="http://schemas.openxmlformats.org/officeDocument/2006/relationships/presProps" Target="/ppt/presProps.xml" Id="R96633adef97e47b0" /><Relationship Type="http://schemas.openxmlformats.org/officeDocument/2006/relationships/tableStyles" Target="/ppt/tableStyles.xml" Id="Rc805ac57c3f24b4c" /><Relationship Type="http://schemas.openxmlformats.org/officeDocument/2006/relationships/slide" Target="/ppt/slides/slide1.xml" Id="R0add6ae1c588453c" /><Relationship Type="http://schemas.openxmlformats.org/officeDocument/2006/relationships/slide" Target="/ppt/slides/slide2.xml" Id="R7b00cf436c764d47" /><Relationship Type="http://schemas.openxmlformats.org/officeDocument/2006/relationships/slide" Target="/ppt/slides/slide3.xml" Id="Ra6fc46a43d3c4c7a" /><Relationship Type="http://schemas.openxmlformats.org/officeDocument/2006/relationships/slide" Target="/ppt/slides/slide4.xml" Id="Rf616affc7751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278ac20c49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6632b9c1de4423" /><Relationship Type="http://schemas.openxmlformats.org/officeDocument/2006/relationships/notesMaster" Target="/ppt/notesMasters/notesMaster1.xml" Id="R018bcd7bb2264a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e168ef3f94e3d" /><Relationship Type="http://schemas.openxmlformats.org/officeDocument/2006/relationships/notesMaster" Target="/ppt/notesMasters/notesMaster1.xml" Id="R32e3e93ec67541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9c14bcb7ba477f" /><Relationship Type="http://schemas.openxmlformats.org/officeDocument/2006/relationships/notesMaster" Target="/ppt/notesMasters/notesMaster1.xml" Id="R918d988fc9aa43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71d7283d64005" /><Relationship Type="http://schemas.openxmlformats.org/officeDocument/2006/relationships/notesMaster" Target="/ppt/notesMasters/notesMaster1.xml" Id="Rc7e6f12b3edb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6d397de5e4f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f2a6c247f64ea2" /><Relationship Type="http://schemas.openxmlformats.org/officeDocument/2006/relationships/slideLayout" Target="/ppt/slideLayouts/slideLayout1.xml" Id="Rdeb6c5b4960146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6c5b4960146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f6899ef944fdf" /><Relationship Type="http://schemas.openxmlformats.org/officeDocument/2006/relationships/notesSlide" Target="/ppt/notesSlides/notesSlide1.xml" Id="R2bced9d7948d46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a269bad1047e2" /><Relationship Type="http://schemas.openxmlformats.org/officeDocument/2006/relationships/notesSlide" Target="/ppt/notesSlides/notesSlide2.xml" Id="Re202d2df9daf40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4cf26f83840b9" /><Relationship Type="http://schemas.openxmlformats.org/officeDocument/2006/relationships/notesSlide" Target="/ppt/notesSlides/notesSlide3.xml" Id="Rcdaee12e088d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4b1ce8d754f87" /><Relationship Type="http://schemas.openxmlformats.org/officeDocument/2006/relationships/notesSlide" Target="/ppt/notesSlides/notesSlide4.xml" Id="R636f3b245e7645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CA483DFA-BB5C-43C6-9E1D-2278F5C7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Replace the big-M penalty with CAISO-aligned settlement logic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C1380BB-7FA3-40EC-8C5C-1F6A7C6F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 energy is fixed; RT settles deviations; unavailable AS loses capacity payment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1A55E1-CD79-4D6D-8D60-3FABAECD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UPSCALeDEV | Market settlement update</a:t>
            </a:r>
          </a:p>
        </p:txBody>
      </p:sp>
    </p:spTree>
    <p:extLst>
      <p:ext uri="{BB962C8B-B14F-4D97-AF65-F5344CB8AC3E}">
        <p14:creationId xmlns:p14="http://schemas.microsoft.com/office/powerpoint/2010/main" val="5975651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A644D50-EE56-4FA9-BB70-5DAFDF30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B42B328-808B-4E32-924D-489D6A16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old penalty was a tracking device, not a market settlement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3D7BF7E-A2C7-4ED2-AB2B-3F9774BB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1009C6A-E7EB-4FC1-ADD7-9EA668E0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OLD
M · |λRT| · |DA deviation|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BADCB58-0235-4DE7-A0C4-554C9BB0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Arbitrary scale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Poor economic interpretation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Can worsen numerical conditioning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CEDD4A6-37A5-4D20-BAE7-170C07F5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A555D91-1A50-4EE5-AA62-3938AD1A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REVISED
λDA·pDA + λRT·pRT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AF60D0E-94AB-4C8B-9084-1620E06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pDA is a fixed RT parameter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pRT is incremental buy-back/sell-back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Physical capability uses pDA + pRT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36B2EB3-D53F-4322-B686-97FD85E8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Problem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previous objective multiplied absolute DA deviations by |RT LMP| and M = 100,000.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behaved almost like a hard constraint, omitted Δt, and treated energy and four AS products identically.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D9A7E-7AF8-4F42-BD7F-815F05CB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Sources: CAISO Settlements Validation, CC 6011/6460/6470; CAISO BPM for Settlements and Billing.</a:t>
            </a:r>
          </a:p>
        </p:txBody>
      </p:sp>
    </p:spTree>
    <p:extLst>
      <p:ext uri="{BB962C8B-B14F-4D97-AF65-F5344CB8AC3E}">
        <p14:creationId xmlns:p14="http://schemas.microsoft.com/office/powerpoint/2010/main" val="20193877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172000F-841D-4478-BAAB-F430F355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29FBBBA-7839-4765-B7E9-46274AA3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CAISO separates the DA award, RT energy deviation, and AS availability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349E6A6-BD29-466E-A1A5-2016CDC3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506E203-71E4-4792-BA1E-9DCAAC0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FB295BC-4FDC-4A75-9223-998365D6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26B0CFC-C816-421A-BD06-9876BB9E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DAY AHEAD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F02B630-F609-4B2D-AF03-DD57141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REAL TIME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7EC2551-469D-4E69-BBE6-A91266C1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SETTLEMENT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EA8F5B2-275A-4C87-94B1-6EF4C571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Update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RT buys back or sells the energy deviation; incremental AS clears in RT.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A3F4DED-C2FC-4943-B8F6-7715296C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Award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 energy and AS capacity clear at DA prices.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927F686-EBF4-476D-95BB-71BD04E2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Account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Energy deviation settles at RT LMP. Unavailable AS capacity receives no pay.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8160B-4AE1-4B51-A86E-56CB302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Sources: CAISO AS No Pay briefing (2021); CAISO Ancillary Services Forced Buy-Back initiative.</a:t>
            </a:r>
          </a:p>
        </p:txBody>
      </p:sp>
    </p:spTree>
    <p:extLst>
      <p:ext uri="{BB962C8B-B14F-4D97-AF65-F5344CB8AC3E}">
        <p14:creationId xmlns:p14="http://schemas.microsoft.com/office/powerpoint/2010/main" val="9944757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3EA7545D-5E4E-409D-95CA-28493CE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A3A9A06-E587-4DC7-B59E-CF01FBB2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Implemented settlement mode preserves feasibility without inventing a penalty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1167FCC-077B-4236-8B03-0FABE032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Energy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 pDA = pDA,ref. Optimize pRT as the incremental imbalance position.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CBB30DE-33E7-4CF8-B0AC-33A6484D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Physical limit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headroom constraints to the net position pDA + pRT, not to each leg separately.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7F4E163-740B-4118-9C49-406CBD03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Ancillary services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Retained DA AS ≤ DA award. Any reduction loses the corresponding DA capacity revenue.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CB53B7-4AA3-4D62-B6A6-B36C9324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Rolling + perfect + full passed a 96-step sample: no NaNs and exact EV energy closure.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AB1AF-3F8F-454D-8022-896660C4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Model scope: simplified CAISO-aligned settlement abstraction; product-specific non-compliance adders remain future work.</a:t>
            </a:r>
          </a:p>
        </p:txBody>
      </p:sp>
    </p:spTree>
    <p:extLst>
      <p:ext uri="{BB962C8B-B14F-4D97-AF65-F5344CB8AC3E}">
        <p14:creationId xmlns:p14="http://schemas.microsoft.com/office/powerpoint/2010/main" val="2087966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2026-07-11T01:07:12.1030000Z</dcterms:created>
  <dcterms:modified xsi:type="dcterms:W3CDTF">2026-07-11T01:07:12.1030000Z</dcterms:modified>
</coreProperties>
</file>